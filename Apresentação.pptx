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Averag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801d3396b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801d3396b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801d3396b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801d3396b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3a64c962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3a64c962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40856b2b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40856b2b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40856b2b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40856b2b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801d3396b_0_1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801d3396b_0_1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4147c54e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4147c54e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4147c54e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4147c54e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801d3396b_0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801d3396b_0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4147c54e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4147c54e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41e003204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41e00320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42658e1e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42658e1e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41e00320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41e0032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4147c54e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4147c54e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41e00320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41e00320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42658e1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42658e1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4147c54e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4147c54e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41e003204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41e00320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PT" sz="4080">
                <a:latin typeface="Average"/>
                <a:ea typeface="Average"/>
                <a:cs typeface="Average"/>
                <a:sym typeface="Average"/>
              </a:rPr>
              <a:t>Trabalho de Aprendizagem Computacional 1</a:t>
            </a:r>
            <a:endParaRPr sz="408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59805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700">
                <a:latin typeface="Average"/>
                <a:ea typeface="Average"/>
                <a:cs typeface="Average"/>
                <a:sym typeface="Average"/>
              </a:rPr>
              <a:t>Carlos Pereira e Maria Santos, PL1, Bioinformática</a:t>
            </a:r>
            <a:endParaRPr sz="17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0" y="1263325"/>
            <a:ext cx="311700" cy="284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0" y="44145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8832300" y="1150950"/>
            <a:ext cx="311700" cy="284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93425" y="954025"/>
            <a:ext cx="4095600" cy="3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Objetivo principal: </a:t>
            </a:r>
            <a:r>
              <a:rPr lang="pt-PT" sz="2000">
                <a:latin typeface="Average"/>
                <a:ea typeface="Average"/>
                <a:cs typeface="Average"/>
                <a:sym typeface="Average"/>
              </a:rPr>
              <a:t>Tornar o SVM mais robusto a outliers e noise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7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Objetivos </a:t>
            </a:r>
            <a:r>
              <a:rPr lang="pt-PT" sz="17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específicos</a:t>
            </a:r>
            <a:r>
              <a:rPr lang="pt-PT" sz="17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:</a:t>
            </a:r>
            <a:endParaRPr sz="1700" u="sng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verage"/>
              <a:buChar char="-"/>
            </a:pPr>
            <a:r>
              <a:rPr lang="pt-PT" sz="1400">
                <a:latin typeface="Average"/>
                <a:ea typeface="Average"/>
                <a:cs typeface="Average"/>
                <a:sym typeface="Average"/>
              </a:rPr>
              <a:t>Analisar o impacto do ruído no SVM</a:t>
            </a:r>
            <a:endParaRPr sz="1400"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verage"/>
              <a:buChar char="-"/>
            </a:pPr>
            <a:r>
              <a:rPr lang="pt-PT" sz="1400">
                <a:latin typeface="Average"/>
                <a:ea typeface="Average"/>
                <a:cs typeface="Average"/>
                <a:sym typeface="Average"/>
              </a:rPr>
              <a:t>Modificar o SMO com regularização adaptativa</a:t>
            </a:r>
            <a:endParaRPr sz="1400"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verage"/>
              <a:buChar char="-"/>
            </a:pPr>
            <a:r>
              <a:rPr lang="pt-PT" sz="1400">
                <a:latin typeface="Average"/>
                <a:ea typeface="Average"/>
                <a:cs typeface="Average"/>
                <a:sym typeface="Average"/>
              </a:rPr>
              <a:t>Comparar o modelo modificado com o SVM base</a:t>
            </a:r>
            <a:endParaRPr sz="1400"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verage"/>
              <a:buChar char="-"/>
            </a:pPr>
            <a:r>
              <a:rPr lang="pt-PT" sz="1400">
                <a:latin typeface="Average"/>
                <a:ea typeface="Average"/>
                <a:cs typeface="Average"/>
                <a:sym typeface="Average"/>
              </a:rPr>
              <a:t>Avaliar robustez e desempenho do modelo</a:t>
            </a:r>
            <a:endParaRPr sz="14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84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Objetivos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523775" y="1015275"/>
            <a:ext cx="42717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7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Abordagem:</a:t>
            </a:r>
            <a:r>
              <a:rPr lang="pt-PT" sz="17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pt-PT" sz="17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SMO com regularização adaptativa</a:t>
            </a:r>
            <a:endParaRPr sz="170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verage"/>
              <a:buChar char="-"/>
            </a:pPr>
            <a:r>
              <a:rPr lang="pt-PT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Ajuste global do C</a:t>
            </a: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 conforme o </a:t>
            </a:r>
            <a:r>
              <a:rPr lang="pt-PT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ruído do dataset;</a:t>
            </a:r>
            <a:endParaRPr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A2C"/>
              </a:buClr>
              <a:buSzPts val="1400"/>
              <a:buFont typeface="Average"/>
              <a:buChar char="-"/>
            </a:pPr>
            <a:r>
              <a:rPr lang="pt-PT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Cálculo de C individual com base no erro de classificação: </a:t>
            </a:r>
            <a:endParaRPr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     C_individual= C/( 1 + abs( Erro[i] ))</a:t>
            </a:r>
            <a:endParaRPr b="1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rage"/>
              <a:buChar char="-"/>
            </a:pP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Refinamento do hiperplano</a:t>
            </a: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 reduzindo a influência de outliers e noise;</a:t>
            </a:r>
            <a:endParaRPr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rage"/>
              <a:buChar char="-"/>
            </a:pP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Backtrack </a:t>
            </a: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para reverter a atualização caso o erro piore;</a:t>
            </a:r>
            <a:endParaRPr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rage"/>
              <a:buChar char="-"/>
            </a:pPr>
            <a:r>
              <a:rPr lang="pt-PT">
                <a:latin typeface="Average"/>
                <a:ea typeface="Average"/>
                <a:cs typeface="Average"/>
                <a:sym typeface="Average"/>
              </a:rPr>
              <a:t>Vetorização </a:t>
            </a: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do cálculo dos erros;</a:t>
            </a:r>
            <a:endParaRPr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rage"/>
              <a:buChar char="-"/>
            </a:pPr>
            <a:r>
              <a:rPr lang="pt-PT">
                <a:latin typeface="Average"/>
                <a:ea typeface="Average"/>
                <a:cs typeface="Average"/>
                <a:sym typeface="Average"/>
              </a:rPr>
              <a:t>Heurística</a:t>
            </a:r>
            <a:r>
              <a:rPr lang="pt-PT"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para escolha de maior passo de aprendizagem.</a:t>
            </a:r>
            <a:endParaRPr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05328" y="3715006"/>
            <a:ext cx="4223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7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Resultados e avaliação </a:t>
            </a:r>
            <a:r>
              <a:rPr lang="pt-PT" sz="17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empírica</a:t>
            </a:r>
            <a:endParaRPr sz="1700" u="sng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 u="sng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Performance</a:t>
            </a: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 melhorou em alguns datasets.</a:t>
            </a:r>
            <a:endParaRPr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Avaliação </a:t>
            </a: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empírica</a:t>
            </a: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 de </a:t>
            </a:r>
            <a:r>
              <a:rPr lang="pt-PT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Friedman + Correção Bonferroni-Dunn</a:t>
            </a:r>
            <a:endParaRPr sz="200">
              <a:solidFill>
                <a:schemeClr val="dk2"/>
              </a:solidFill>
              <a:highlight>
                <a:srgbClr val="FFFF00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265025"/>
            <a:ext cx="500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282">
                <a:latin typeface="Average"/>
                <a:ea typeface="Average"/>
                <a:cs typeface="Average"/>
                <a:sym typeface="Average"/>
              </a:rPr>
              <a:t>O </a:t>
            </a:r>
            <a:r>
              <a:rPr b="1" lang="pt-PT" sz="2282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SVM</a:t>
            </a:r>
            <a:r>
              <a:rPr lang="pt-PT" sz="2282">
                <a:latin typeface="Average"/>
                <a:ea typeface="Average"/>
                <a:cs typeface="Average"/>
                <a:sym typeface="Average"/>
              </a:rPr>
              <a:t> é um algoritmo clássico de ML, que tem como fim maximizar a margem de separação entre duas classes, neste contexto,  para classificação. </a:t>
            </a:r>
            <a:endParaRPr sz="2282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282">
                <a:latin typeface="Average"/>
                <a:ea typeface="Average"/>
                <a:cs typeface="Average"/>
                <a:sym typeface="Average"/>
              </a:rPr>
              <a:t>O </a:t>
            </a:r>
            <a:r>
              <a:rPr b="1" lang="pt-PT" sz="2282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SMO  (</a:t>
            </a:r>
            <a:r>
              <a:rPr b="1" lang="pt-PT" sz="2282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sequential</a:t>
            </a:r>
            <a:r>
              <a:rPr b="1" lang="pt-PT" sz="2282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b="1" lang="pt-PT" sz="2282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minimal</a:t>
            </a:r>
            <a:r>
              <a:rPr b="1" lang="pt-PT" sz="2282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optimization) </a:t>
            </a:r>
            <a:r>
              <a:rPr lang="pt-PT" sz="2282">
                <a:latin typeface="Average"/>
                <a:ea typeface="Average"/>
                <a:cs typeface="Average"/>
                <a:sym typeface="Average"/>
              </a:rPr>
              <a:t>decompõe a otimização global do SVM em subproblemas analíticos de dois pontos, garantindo eficiência computacional e escalabilidade.</a:t>
            </a:r>
            <a:endParaRPr sz="2282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lang="pt-PT">
                <a:latin typeface="Average"/>
                <a:ea typeface="Average"/>
                <a:cs typeface="Average"/>
                <a:sym typeface="Average"/>
              </a:rPr>
              <a:t>(Implementação retirada do repositório fornecido)</a:t>
            </a:r>
            <a:endParaRPr sz="21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0" y="0"/>
            <a:ext cx="95463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SVM com SMO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250" y="1265022"/>
            <a:ext cx="3852100" cy="314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-132800" y="0"/>
            <a:ext cx="92769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–  </a:t>
            </a: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Como o problema afeta o SVM  –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11700" y="1289828"/>
            <a:ext cx="58146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Outliers (pontos que se afastam significativamente do padrão de distribuição da sua classe ou que aparecem "dentro" do território da outra classe)</a:t>
            </a:r>
            <a:r>
              <a:rPr b="1" lang="pt-PT" sz="25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b="1" lang="pt-PT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: </a:t>
            </a:r>
            <a:r>
              <a:rPr lang="pt-PT" sz="1800">
                <a:solidFill>
                  <a:srgbClr val="434343"/>
                </a:solidFill>
                <a:latin typeface="Average"/>
                <a:ea typeface="Average"/>
                <a:cs typeface="Average"/>
                <a:sym typeface="Average"/>
              </a:rPr>
              <a:t>ao tentar classificar corretamente o ponto, o algoritmo vai ajustar o hiperplano, de forma a incluir o ponto na classe correta. Isto leva a que outros pontos sejam mal classificados.</a:t>
            </a:r>
            <a:endParaRPr sz="1800">
              <a:solidFill>
                <a:srgbClr val="43434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Noise (pontos que estão dentro da margem de separação): </a:t>
            </a:r>
            <a:r>
              <a:rPr lang="pt-PT" sz="1800">
                <a:solidFill>
                  <a:srgbClr val="434343"/>
                </a:solidFill>
                <a:latin typeface="Average"/>
                <a:ea typeface="Average"/>
                <a:cs typeface="Average"/>
                <a:sym typeface="Average"/>
              </a:rPr>
              <a:t>diminuição da separação dos dados de forma a tentar </a:t>
            </a:r>
            <a:r>
              <a:rPr lang="pt-PT" sz="1800">
                <a:solidFill>
                  <a:srgbClr val="434343"/>
                </a:solidFill>
                <a:latin typeface="Average"/>
                <a:ea typeface="Average"/>
                <a:cs typeface="Average"/>
                <a:sym typeface="Average"/>
              </a:rPr>
              <a:t>classificar</a:t>
            </a:r>
            <a:r>
              <a:rPr lang="pt-PT" sz="1800">
                <a:solidFill>
                  <a:srgbClr val="434343"/>
                </a:solidFill>
                <a:latin typeface="Average"/>
                <a:ea typeface="Average"/>
                <a:cs typeface="Average"/>
                <a:sym typeface="Average"/>
              </a:rPr>
              <a:t> corretamente os pontos que estão dentro da margem. Margem fica mais estreita de forma a acomodar estes pontos.</a:t>
            </a:r>
            <a:endParaRPr sz="1800">
              <a:solidFill>
                <a:srgbClr val="43434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2" name="Google Shape;82;p16" title="smo-graph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4047" y="1207875"/>
            <a:ext cx="2628254" cy="371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-132800" y="0"/>
            <a:ext cx="92769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Pipeline de pré-processamento generalizado</a:t>
            </a:r>
            <a:endParaRPr sz="32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11700" y="1355200"/>
            <a:ext cx="852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89200" y="1205575"/>
            <a:ext cx="82329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Realização de um pré processamento generalizado a todos os datasets, para validação posterior dos resultados.</a:t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Extração de metafeatures através da API PMFE, como  técnica de caracterização aprofundada do dataset:</a:t>
            </a:r>
            <a:endParaRPr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rage"/>
              <a:buChar char="-"/>
            </a:pPr>
            <a:r>
              <a:rPr b="1" lang="pt-PT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quantidade de outliers, noise, separabilidade dos dados, class imbalance</a:t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(nr_outliers, high_ns_ratio, high kurtosis/skewness, linear_discr)</a:t>
            </a:r>
            <a:endParaRPr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-132800" y="0"/>
            <a:ext cx="92769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Pipeline de pré-processamento generalizado</a:t>
            </a:r>
            <a:endParaRPr sz="32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311700" y="1355200"/>
            <a:ext cx="852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89200" y="1205575"/>
            <a:ext cx="82329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Funções importantes:</a:t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best_kernel()</a:t>
            </a:r>
            <a:r>
              <a:rPr lang="pt-PT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→ escolhe o kernel mais adequado tendo em conta as metafeatures do dataset. Cada kernel está associado a um conjunto de problemas tipo (elevada dimensionalidade, rico em outliers) de acordo com o somatório ponderado do valor normalizado das metafeatures do dataset. 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metafeatures_extraction()</a:t>
            </a:r>
            <a:r>
              <a:rPr lang="pt-PT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→ extrai e guarda as metafeatures de cada dataset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calc_correlation()</a:t>
            </a:r>
            <a:r>
              <a:rPr lang="pt-PT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→ elimina colunas muito pouco correlacionadas entre si, e muito correlacionadas com o target.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Aspetos relevantes:</a:t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verage"/>
              <a:buChar char="-"/>
            </a:pPr>
            <a:r>
              <a:rPr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passagem do melhor kernel para avaliar cada dataset como argumento nos modelos</a:t>
            </a:r>
            <a:endParaRPr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verage"/>
              <a:buChar char="-"/>
            </a:pPr>
            <a:r>
              <a:rPr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cálculo do noise_level (nível de ruído) de cada dataset é passado como argumento nos modelos</a:t>
            </a:r>
            <a:endParaRPr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243300" y="1152475"/>
            <a:ext cx="8589000" cy="36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Parâmetro</a:t>
            </a:r>
            <a:r>
              <a:rPr b="1"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de regularização C</a:t>
            </a: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→ controla o </a:t>
            </a: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equilíbrio</a:t>
            </a: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entre a maximização da margem e a penalização dos erros de </a:t>
            </a: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classificação. </a:t>
            </a: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Delimita se ponto é um vetor de suporte ou não e o peso que tem no ajuste final do hiperplano.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 mais reduzido</a:t>
            </a: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→ permite mais erros de </a:t>
            </a: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classificação. É mais flexível relativamente à classificação correta de todos os pontos. Vetores de suporte passam a ter menos influência e peso na definição do hiperplano. Risco de underfitting.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 mais elevado </a:t>
            </a: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→ tentativa de classificar todos os pontos corretamente, incluindo outliers e noise. Risco de overfitting. 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10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–  Proposta de Modificação - Motivação  –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4150" y="1104000"/>
            <a:ext cx="9075900" cy="3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Passo 1: Ajuste do C global de acordo com a percentagem de ruído do dataset</a:t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→ Diminuir o C em 20% se o noise_factor estiver entre 5% e 15% (moderado)</a:t>
            </a:r>
            <a:endParaRPr b="1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→ Diminuir o C em 50% se o noise_factor for superior a 15% (alto)</a:t>
            </a:r>
            <a:endParaRPr b="1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→ Manter o C inicial (1.0) caso não se verifiquem estas condições.</a:t>
            </a:r>
            <a:endParaRPr b="1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Intuição:</a:t>
            </a:r>
            <a:endParaRPr b="1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Ao reduzirmos o valor do C, o algoritmo vai dar menos peso aos pontos que estão dentro da margem e continuar a maximizar a separação entre as classes, “ignorando” os pontos de ruído, e não minimizando a margem de forma a os tentar classificar corretamente.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10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–  </a:t>
            </a: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Proposta de Modificação Transversal –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76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Passo 2:    C adaptativo</a:t>
            </a:r>
            <a:endParaRPr b="1" sz="2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85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→ Treinar e calcular um C individual para cada ponto, tendo em conta o seu erro de classificação:  </a:t>
            </a:r>
            <a:endParaRPr b="1" sz="185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2124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		</a:t>
            </a:r>
            <a:r>
              <a:rPr lang="pt-PT" sz="2424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</a:t>
            </a:r>
            <a:r>
              <a:rPr baseline="-25000" lang="pt-PT" sz="2424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individual</a:t>
            </a:r>
            <a:r>
              <a:rPr lang="pt-PT" sz="2424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= </a:t>
            </a:r>
            <a:endParaRPr sz="2424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24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→ Ajustar e refinar o hiperplano novamente com os novos C de cada ponto.</a:t>
            </a: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	</a:t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908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	→ </a:t>
            </a:r>
            <a:r>
              <a:rPr b="1" lang="pt-PT" sz="1908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Backtrack para reverter ao C inicial se o erro piorar ( contribui para a estabilidade )</a:t>
            </a:r>
            <a:endParaRPr b="1" sz="1908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10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– </a:t>
            </a: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Proposta de Modificação Transversal –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20" name="Google Shape;120;p21" title="CodeCogsEq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7413" y="2495521"/>
            <a:ext cx="14382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5350075" y="2352775"/>
            <a:ext cx="312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Outliers</a:t>
            </a:r>
            <a:r>
              <a:rPr lang="pt-PT" sz="18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 vão ter erro elevado e C</a:t>
            </a:r>
            <a:r>
              <a:rPr baseline="-25000" lang="pt-PT" sz="18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individual</a:t>
            </a:r>
            <a:r>
              <a:rPr lang="pt-PT" sz="18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 vai ser mais reduzido para estes pontos.</a:t>
            </a:r>
            <a:endParaRPr sz="180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76900"/>
            <a:ext cx="8520600" cy="3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Heurística</a:t>
            </a:r>
            <a:r>
              <a:rPr b="1" lang="pt-PT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KKT: </a:t>
            </a:r>
            <a:r>
              <a:rPr lang="pt-PT" sz="2000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apenas pontos que violam as condições Karush-Kuhn-Tucker são ajustado e contribuem para o refinamento da margem e hiperplano.</a:t>
            </a:r>
            <a:endParaRPr sz="2000"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000" u="sng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Condições: </a:t>
            </a:r>
            <a:endParaRPr sz="2000" u="sng"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Ponto Fora da Margem:</a:t>
            </a:r>
            <a:r>
              <a:rPr lang="pt-PT" sz="1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multiplicador α é zero, o ponto está corretamente classificado e além da margem de segurança.</a:t>
            </a:r>
            <a:endParaRPr sz="1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Ponto de Suporte (Na Margem):</a:t>
            </a:r>
            <a:r>
              <a:rPr lang="pt-PT" sz="1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multiplicador </a:t>
            </a:r>
            <a:r>
              <a:rPr lang="pt-PT" sz="1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α </a:t>
            </a:r>
            <a:r>
              <a:rPr lang="pt-PT" sz="1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está entre 0 e C, o ponto é um vetor de suporte "puro" e está exatamente em cima da margem.</a:t>
            </a:r>
            <a:endParaRPr sz="1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Ponto Dentro da Margem :</a:t>
            </a:r>
            <a:r>
              <a:rPr lang="pt-PT" sz="1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Se o multiplicador </a:t>
            </a:r>
            <a:r>
              <a:rPr lang="pt-PT" sz="1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α </a:t>
            </a:r>
            <a:r>
              <a:rPr lang="pt-PT" sz="1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é igual a C, o ponto está dentro da margem de segurança ou foi classificado incorretamente.</a:t>
            </a:r>
            <a:endParaRPr sz="1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Vetorização do cálculo dos erros de classificação:</a:t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→ diminuição do overhead computacional e aumento da eficiência</a:t>
            </a:r>
            <a:endParaRPr b="1" sz="19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— </a:t>
            </a:r>
            <a:r>
              <a:rPr lang="pt-PT" sz="27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Proposta de Modificação Transversal– 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76900"/>
            <a:ext cx="8520600" cy="3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300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Modified 1</a:t>
            </a:r>
            <a:endParaRPr b="1" sz="2300"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Heurística de escolha do par que maximiza o passo de aprendizagem: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700">
                <a:latin typeface="Average"/>
                <a:ea typeface="Average"/>
                <a:cs typeface="Average"/>
                <a:sym typeface="Average"/>
              </a:rPr>
              <a:t>Esta </a:t>
            </a:r>
            <a:r>
              <a:rPr lang="pt-PT" sz="1700">
                <a:latin typeface="Average"/>
                <a:ea typeface="Average"/>
                <a:cs typeface="Average"/>
                <a:sym typeface="Average"/>
              </a:rPr>
              <a:t>heurística</a:t>
            </a:r>
            <a:r>
              <a:rPr lang="pt-PT" sz="1700">
                <a:latin typeface="Average"/>
                <a:ea typeface="Average"/>
                <a:cs typeface="Average"/>
                <a:sym typeface="Average"/>
              </a:rPr>
              <a:t> seleciona o segundo multiplicador que maximiza o tamanho do passo de aprendizagem. Utilizamos a magnitudes da diferença de erro como uma aproximação para garantir que cada iteração resulte no maior progresso possível</a:t>
            </a: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.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 sz="1900" u="sng">
                <a:latin typeface="Average"/>
                <a:ea typeface="Average"/>
                <a:cs typeface="Average"/>
                <a:sym typeface="Average"/>
              </a:rPr>
              <a:t>Desvantagem</a:t>
            </a: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: </a:t>
            </a: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heurística</a:t>
            </a: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 greedy que pode ficar “presa” nos mesmos pontos </a:t>
            </a: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problemáticos</a:t>
            </a: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.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— </a:t>
            </a:r>
            <a:r>
              <a:rPr lang="pt-PT" sz="27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Proposta de Modificação – Modified 1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36" name="Google Shape;136;p23" title="CodeCogsEqn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650" y="2386013"/>
            <a:ext cx="121920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76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300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Modified 2</a:t>
            </a:r>
            <a:endParaRPr b="1" sz="2300"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Modificações transversais 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900">
                <a:latin typeface="Average"/>
                <a:ea typeface="Average"/>
                <a:cs typeface="Average"/>
                <a:sym typeface="Average"/>
              </a:rPr>
              <a:t>Escolha aleatória do par a otimizar, i e j.</a:t>
            </a:r>
            <a:endParaRPr b="1"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					i = self.random_index( j )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Esta </a:t>
            </a: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aleatoriedade contribui para a robustez contra o ruído.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— </a:t>
            </a:r>
            <a:r>
              <a:rPr lang="pt-PT" sz="27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Proposta de Modificação – Modified 2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76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300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De acordo com as nossas modificações, esperamos os seguintes resultados:</a:t>
            </a:r>
            <a:endParaRPr b="1" sz="2300"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Modified 1 com melhor desempenho em datasets com:</a:t>
            </a:r>
            <a:endParaRPr b="1" sz="2100"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282A2C"/>
              </a:buClr>
              <a:buSzPts val="1900"/>
              <a:buFont typeface="Average"/>
              <a:buChar char="-"/>
            </a:pPr>
            <a:r>
              <a:rPr lang="pt-PT" sz="1900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ruído</a:t>
            </a:r>
            <a:r>
              <a:rPr lang="pt-PT" sz="1900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 elevado, overlapping de classes e class imbalance</a:t>
            </a:r>
            <a:endParaRPr sz="1900"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Modified 2 com melhor desempenho em datasets com:</a:t>
            </a:r>
            <a:endParaRPr b="1" sz="2100">
              <a:solidFill>
                <a:srgbClr val="282A2C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282A2C"/>
              </a:buClr>
              <a:buSzPts val="1900"/>
              <a:buFont typeface="Average"/>
              <a:buChar char="-"/>
            </a:pPr>
            <a:r>
              <a:rPr lang="pt-PT" sz="1900">
                <a:solidFill>
                  <a:srgbClr val="282A2C"/>
                </a:solidFill>
                <a:latin typeface="Average"/>
                <a:ea typeface="Average"/>
                <a:cs typeface="Average"/>
                <a:sym typeface="Average"/>
              </a:rPr>
              <a:t>muitos outliers, pouco ruído</a:t>
            </a:r>
            <a:endParaRPr sz="15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— </a:t>
            </a:r>
            <a:r>
              <a:rPr lang="pt-PT" sz="27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Resultados Esperados –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76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De acordo com T07-Empirical Evaluation (Ribeiro, Soares) para a UC MLI (2022/2023), quando o objetivo é comparar a performance de vários algoritmos para um conjunto de tarefas preditivas, quantos mais testes emparelhados forem executados, maior é a probabilidade cumulativa de rejeitar a hipótese nula indevidamente (erro tipo I). 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900">
                <a:latin typeface="Average"/>
                <a:ea typeface="Average"/>
                <a:cs typeface="Average"/>
                <a:sym typeface="Average"/>
              </a:rPr>
              <a:t>Para contrariar o problema, é sugerido “multiple hypothesis testing”. Só se a hipótese nula do teste omnibus for rejeitada é que podemos tentar rejeitar as seguintes hipóteses nulas emparelhadas.</a:t>
            </a:r>
            <a:endParaRPr b="1" sz="19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7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Avaliação Empírica - Friedman + Correção Bonferroni-Dunn</a:t>
            </a:r>
            <a:endParaRPr sz="27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176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latin typeface="Average"/>
                <a:ea typeface="Average"/>
                <a:cs typeface="Average"/>
                <a:sym typeface="Average"/>
              </a:rPr>
              <a:t>Referência: https://github.com/benjaminpatrickevans/MethodComparisonsInPython/blob/master/StatisticalTests.ipynb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600">
                <a:latin typeface="Average"/>
                <a:ea typeface="Average"/>
                <a:cs typeface="Average"/>
                <a:sym typeface="Average"/>
              </a:rPr>
              <a:t>Tendo por base a implementação o jupyter de teste estatístico de Benjamin Evans, implementamos um teste Friedman com teste post-hoc de Bonferroni. O teste Friedman é um teste não paramétrico adequado para determinar se existe, de modo sistemático, uma diferença de performance média (Balanced Accuracy) entre grupos de modelos SVM.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600">
                <a:latin typeface="Average"/>
                <a:ea typeface="Average"/>
                <a:cs typeface="Average"/>
                <a:sym typeface="Average"/>
              </a:rPr>
              <a:t>Para isso, é analisada a distribuição dos ranks. Ranks são atribuídos pela função eval_analysis.ranking()e distinguem a performance numa escala ordenada decrescente. 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Avaliação E</a:t>
            </a: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mpírica - Friedman + Correção Bonferroni-Dunn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176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latin typeface="Average"/>
                <a:ea typeface="Average"/>
                <a:cs typeface="Average"/>
                <a:sym typeface="Average"/>
              </a:rPr>
              <a:t>Bonferroni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900">
                <a:latin typeface="Average"/>
                <a:ea typeface="Average"/>
                <a:cs typeface="Average"/>
                <a:sym typeface="Average"/>
              </a:rPr>
              <a:t>Teste post-hoc usado para comparação ao modelo base (SVM_STANDARD)</a:t>
            </a:r>
            <a:endParaRPr b="1"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 sz="1900">
                <a:latin typeface="Average"/>
                <a:ea typeface="Average"/>
                <a:cs typeface="Average"/>
                <a:sym typeface="Average"/>
              </a:rPr>
              <a:t>Bonferroni-Dunn diminui a significância de cada teste (facilita a rejeição de H0) de modo a manter constante o valor mínimo cumulativo de rejeição de todos os testes realizados. Usando a significância de cada teste (q_alpha), calcula um limite Critical Difference, usado para determinar os pares com performance sistematicamente distinta.</a:t>
            </a:r>
            <a:endParaRPr b="1" sz="19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Avaliação Empírica - Friedman + Correção Bonferroni-Dunn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9"/>
          <p:cNvSpPr/>
          <p:nvPr/>
        </p:nvSpPr>
        <p:spPr>
          <a:xfrm>
            <a:off x="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Avaliação Empírica - Friedman + Correção Bonferroni-Dunn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475" y="2965325"/>
            <a:ext cx="5182851" cy="194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/>
          <p:nvPr/>
        </p:nvSpPr>
        <p:spPr>
          <a:xfrm>
            <a:off x="246475" y="1278475"/>
            <a:ext cx="85857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dk2"/>
                </a:solidFill>
              </a:rPr>
              <a:t>A partir do diagrama de Critical Difference gerado com o módulo scikit_posthocs, confirmamos, com 95% grau de confiança, que SVM_modified_3.1 e SVM_STANDARD não são sistematicamente distintos (unidos pela barra escura). CD(modified_</a:t>
            </a:r>
            <a:r>
              <a:rPr lang="pt-PT" sz="1600">
                <a:solidFill>
                  <a:schemeClr val="dk2"/>
                </a:solidFill>
              </a:rPr>
              <a:t>3</a:t>
            </a:r>
            <a:r>
              <a:rPr lang="pt-PT" sz="1600">
                <a:solidFill>
                  <a:schemeClr val="dk2"/>
                </a:solidFill>
              </a:rPr>
              <a:t>) &gt; CD(standard), mas a média dos rankings de standard é mais baixa do que os de modified_3, por isso, standard é um modelo superior a modified_3.</a:t>
            </a:r>
            <a:br>
              <a:rPr lang="pt-PT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2"/>
                </a:solidFill>
              </a:rPr>
              <a:t>Nota: modified_3 corresponde ao modified_1 e modified_3.1 corresponde a modified_2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649475" y="3477950"/>
            <a:ext cx="15642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176900"/>
            <a:ext cx="526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Performance melhorou em alguns datasets !</a:t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verage"/>
              <a:buChar char="-"/>
            </a:pP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O Modified 1 superou o SVM base em 19 datasets.</a:t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Este equilíbrio demonstra que a introdução de mecanismos de robustez não comprometeu a capacidade preditiva do modelo base.</a:t>
            </a:r>
            <a:endParaRPr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Os resultados esperados não foram obtidos.</a:t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7" name="Google Shape;187;p30"/>
          <p:cNvSpPr/>
          <p:nvPr/>
        </p:nvSpPr>
        <p:spPr>
          <a:xfrm>
            <a:off x="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–  Resultados e conclusões finais  –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88" name="Google Shape;188;p30" title="winner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400" y="1392653"/>
            <a:ext cx="3545450" cy="298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11700" y="1176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verage"/>
              <a:buChar char="-"/>
            </a:pP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Explorar outras modificações existentes na literatura;</a:t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verage"/>
              <a:buChar char="-"/>
            </a:pP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Explorar hierarchical clustering para agrupamento de metafeatures como possível medida para agrupar os datasets por tipologia de problema;</a:t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verage"/>
              <a:buChar char="-"/>
            </a:pP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Melhorar a </a:t>
            </a: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heurística</a:t>
            </a:r>
            <a:r>
              <a:rPr b="1" lang="pt-PT" sz="19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do Modified 1;</a:t>
            </a:r>
            <a:endParaRPr b="1" sz="19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5" name="Google Shape;195;p31"/>
          <p:cNvSpPr/>
          <p:nvPr/>
        </p:nvSpPr>
        <p:spPr>
          <a:xfrm>
            <a:off x="0" y="0"/>
            <a:ext cx="9144000" cy="11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–  Melhorias </a:t>
            </a: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possíveis</a:t>
            </a:r>
            <a:r>
              <a:rPr lang="pt-PT" sz="2700">
                <a:latin typeface="Average"/>
                <a:ea typeface="Average"/>
                <a:cs typeface="Average"/>
                <a:sym typeface="Average"/>
              </a:rPr>
              <a:t> no futuro –</a:t>
            </a:r>
            <a:endParaRPr sz="27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